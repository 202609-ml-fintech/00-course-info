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9753600" cy="7315200"/>
  <p:notesSz cx="6858000" cy="9144000"/>
  <p:embeddedFontLst>
    <p:embeddedFont>
      <p:font typeface="Arimo" charset="1" panose="020B0604020202020204"/>
      <p:regular r:id="rId15"/>
    </p:embeddedFont>
    <p:embeddedFont>
      <p:font typeface="Noto Sans T Chinese" charset="1" panose="020B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真正的波動度其實是一個不可觀測的潛在變數，為了更精確地衡量實際市場波動，Andersen &amp; Bollerslev提出了 Realized Volatility 的概念</a:t>
            </a:r>
          </a:p>
          <a:p>
            <a:r>
              <a:rPr lang="en-US"/>
              <a:t>一段期間內的「真實波動度」可以表示為瞬時波動度的積分，稱之為Integrated Volatility</a:t>
            </a:r>
          </a:p>
          <a:p>
            <a:r>
              <a:rPr lang="en-US"/>
              <a:t>利用quadratic variation 理論來估計實際波動度。根據 quadratic variation 的性質，如果價格資料的取樣頻率足夠高，則高頻報酬率平方的加總會收斂到真實的 integrated volatility，用於近似真實波動度。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真正的波動度其實是一個不可觀測的潛在變數，為了更精確地衡量實際市場波動，Andersen &amp; Bollerslev提出了 Realized Volatility 的概念</a:t>
            </a:r>
          </a:p>
          <a:p>
            <a:r>
              <a:rPr lang="en-US"/>
              <a:t>一段期間內的「真實波動度」可以表示為瞬時波動度的積分，稱之為Integrated Volatility</a:t>
            </a:r>
          </a:p>
          <a:p>
            <a:r>
              <a:rPr lang="en-US"/>
              <a:t>利用quadratic variation 理論來估計實際波動度。根據 quadratic variation 的性質，如果價格資料的取樣頻率足夠高，則高頻報酬率平方的加總會收斂到真實的 integrated volatility，用於近似真實波動度。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11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3268" y="317322"/>
            <a:ext cx="1723895" cy="1670716"/>
          </a:xfrm>
          <a:custGeom>
            <a:avLst/>
            <a:gdLst/>
            <a:ahLst/>
            <a:cxnLst/>
            <a:rect r="r" b="b" t="t" l="l"/>
            <a:pathLst>
              <a:path h="1670716" w="1723895">
                <a:moveTo>
                  <a:pt x="0" y="0"/>
                </a:moveTo>
                <a:lnTo>
                  <a:pt x="1723895" y="0"/>
                </a:lnTo>
                <a:lnTo>
                  <a:pt x="1723895" y="1670715"/>
                </a:lnTo>
                <a:lnTo>
                  <a:pt x="0" y="16707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7665" y="2212105"/>
            <a:ext cx="9178271" cy="67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66"/>
              </a:lnSpc>
              <a:spcBef>
                <a:spcPct val="0"/>
              </a:spcBef>
            </a:pPr>
            <a:r>
              <a:rPr lang="en-US" sz="4050" strike="noStrike" u="none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Replicating the paper: 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665" y="3803714"/>
            <a:ext cx="737907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NAME?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12594" y="3992880"/>
            <a:ext cx="17658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65817" y="3992880"/>
            <a:ext cx="17658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‡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8869" y="5040630"/>
            <a:ext cx="10988040" cy="84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Department of Information Management and Finance, National Yang Ming Chao Tung University</a:t>
            </a:r>
          </a:p>
          <a:p>
            <a:pPr algn="l">
              <a:lnSpc>
                <a:spcPts val="3451"/>
              </a:lnSpc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Institute of Business and Management, National Yang Ming Chao Tung University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01" y="5104384"/>
            <a:ext cx="1200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01" y="5522531"/>
            <a:ext cx="1200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‡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08" y="459248"/>
            <a:ext cx="8626878" cy="19060"/>
            <a:chOff x="0" y="0"/>
            <a:chExt cx="11502504" cy="25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4" y="6861610"/>
            <a:ext cx="7928600" cy="19060"/>
            <a:chOff x="0" y="0"/>
            <a:chExt cx="10571467" cy="25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17677" y="1156487"/>
            <a:ext cx="8946909" cy="419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696" indent="-67899" lvl="2">
              <a:lnSpc>
                <a:spcPts val="3375"/>
              </a:lnSpc>
              <a:buFont typeface="Arial"/>
              <a:buChar char="⚬"/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824629" y="6491631"/>
            <a:ext cx="739957" cy="739957"/>
          </a:xfrm>
          <a:custGeom>
            <a:avLst/>
            <a:gdLst/>
            <a:ahLst/>
            <a:cxnLst/>
            <a:rect r="r" b="b" t="t" l="l"/>
            <a:pathLst>
              <a:path h="739957" w="739957">
                <a:moveTo>
                  <a:pt x="0" y="0"/>
                </a:moveTo>
                <a:lnTo>
                  <a:pt x="739957" y="0"/>
                </a:lnTo>
                <a:lnTo>
                  <a:pt x="739957" y="739958"/>
                </a:lnTo>
                <a:lnTo>
                  <a:pt x="0" y="739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7677" y="87773"/>
            <a:ext cx="29222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R1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8126" y="573557"/>
            <a:ext cx="7702302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Motivation and Why this topic interests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1711" y="6947344"/>
            <a:ext cx="8512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Volatility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3104" y="2441629"/>
            <a:ext cx="6155308" cy="1879092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08" y="459248"/>
            <a:ext cx="8626878" cy="19060"/>
            <a:chOff x="0" y="0"/>
            <a:chExt cx="11502504" cy="25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4" y="6861610"/>
            <a:ext cx="7928600" cy="19060"/>
            <a:chOff x="0" y="0"/>
            <a:chExt cx="10571467" cy="25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617677" y="1156487"/>
            <a:ext cx="8946909" cy="419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696" indent="-67899" lvl="2">
              <a:lnSpc>
                <a:spcPts val="3375"/>
              </a:lnSpc>
              <a:buFont typeface="Arial"/>
              <a:buChar char="⚬"/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824629" y="6491631"/>
            <a:ext cx="739957" cy="739957"/>
          </a:xfrm>
          <a:custGeom>
            <a:avLst/>
            <a:gdLst/>
            <a:ahLst/>
            <a:cxnLst/>
            <a:rect r="r" b="b" t="t" l="l"/>
            <a:pathLst>
              <a:path h="739957" w="739957">
                <a:moveTo>
                  <a:pt x="0" y="0"/>
                </a:moveTo>
                <a:lnTo>
                  <a:pt x="739957" y="0"/>
                </a:lnTo>
                <a:lnTo>
                  <a:pt x="739957" y="739958"/>
                </a:lnTo>
                <a:lnTo>
                  <a:pt x="0" y="739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7677" y="87773"/>
            <a:ext cx="29222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R2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8126" y="573557"/>
            <a:ext cx="858441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1711" y="6947344"/>
            <a:ext cx="8512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Volatility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08" y="459248"/>
            <a:ext cx="8626878" cy="19060"/>
            <a:chOff x="0" y="0"/>
            <a:chExt cx="11502504" cy="25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4" y="6861610"/>
            <a:ext cx="7928600" cy="19060"/>
            <a:chOff x="0" y="0"/>
            <a:chExt cx="10571467" cy="25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4879" y="3076212"/>
            <a:ext cx="2371126" cy="65518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18811" y="3845961"/>
            <a:ext cx="1623263" cy="500357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5152" y="4534391"/>
            <a:ext cx="1510579" cy="474546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3474" y="4786844"/>
            <a:ext cx="4573938" cy="1387094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2222" y="5712736"/>
            <a:ext cx="4216439" cy="1026191"/>
          </a:xfrm>
          <a:prstGeom prst="rect">
            <a:avLst/>
          </a:prstGeom>
        </p:spPr>
      </p:pic>
      <p:sp>
        <p:nvSpPr>
          <p:cNvPr name="Freeform 12" id="12"/>
          <p:cNvSpPr/>
          <p:nvPr/>
        </p:nvSpPr>
        <p:spPr>
          <a:xfrm flipH="false" flipV="false" rot="0">
            <a:off x="8824629" y="6491631"/>
            <a:ext cx="739957" cy="739957"/>
          </a:xfrm>
          <a:custGeom>
            <a:avLst/>
            <a:gdLst/>
            <a:ahLst/>
            <a:cxnLst/>
            <a:rect r="r" b="b" t="t" l="l"/>
            <a:pathLst>
              <a:path h="739957" w="739957">
                <a:moveTo>
                  <a:pt x="0" y="0"/>
                </a:moveTo>
                <a:lnTo>
                  <a:pt x="739957" y="0"/>
                </a:lnTo>
                <a:lnTo>
                  <a:pt x="739957" y="739958"/>
                </a:lnTo>
                <a:lnTo>
                  <a:pt x="0" y="7399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620594" y="3115647"/>
            <a:ext cx="4943992" cy="3089995"/>
          </a:xfrm>
          <a:custGeom>
            <a:avLst/>
            <a:gdLst/>
            <a:ahLst/>
            <a:cxnLst/>
            <a:rect r="r" b="b" t="t" l="l"/>
            <a:pathLst>
              <a:path h="3089995" w="4943992">
                <a:moveTo>
                  <a:pt x="0" y="0"/>
                </a:moveTo>
                <a:lnTo>
                  <a:pt x="4943992" y="0"/>
                </a:lnTo>
                <a:lnTo>
                  <a:pt x="4943992" y="3089994"/>
                </a:lnTo>
                <a:lnTo>
                  <a:pt x="0" y="30899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7677" y="1156487"/>
            <a:ext cx="8946909" cy="177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Market indicators encode the current market state and form the query vector </a:t>
            </a:r>
          </a:p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News embeddings are projected to keys and values </a:t>
            </a:r>
          </a:p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The weighted news representation  is added to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7677" y="87773"/>
            <a:ext cx="29222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R3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8126" y="573557"/>
            <a:ext cx="7274049" cy="47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Benchmark and the experimental 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1711" y="6947344"/>
            <a:ext cx="8512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Volatility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08" y="459248"/>
            <a:ext cx="8626878" cy="19060"/>
            <a:chOff x="0" y="0"/>
            <a:chExt cx="11502504" cy="25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4" y="6861610"/>
            <a:ext cx="7928600" cy="19060"/>
            <a:chOff x="0" y="0"/>
            <a:chExt cx="10571467" cy="25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8174" y="3869375"/>
            <a:ext cx="4710291" cy="2714305"/>
          </a:xfrm>
          <a:custGeom>
            <a:avLst/>
            <a:gdLst/>
            <a:ahLst/>
            <a:cxnLst/>
            <a:rect r="r" b="b" t="t" l="l"/>
            <a:pathLst>
              <a:path h="2714305" w="4710291">
                <a:moveTo>
                  <a:pt x="0" y="0"/>
                </a:moveTo>
                <a:lnTo>
                  <a:pt x="4710292" y="0"/>
                </a:lnTo>
                <a:lnTo>
                  <a:pt x="4710292" y="2714305"/>
                </a:lnTo>
                <a:lnTo>
                  <a:pt x="0" y="27143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76800" y="3869375"/>
            <a:ext cx="4710291" cy="2714305"/>
          </a:xfrm>
          <a:custGeom>
            <a:avLst/>
            <a:gdLst/>
            <a:ahLst/>
            <a:cxnLst/>
            <a:rect r="r" b="b" t="t" l="l"/>
            <a:pathLst>
              <a:path h="2714305" w="4710291">
                <a:moveTo>
                  <a:pt x="0" y="0"/>
                </a:moveTo>
                <a:lnTo>
                  <a:pt x="4710291" y="0"/>
                </a:lnTo>
                <a:lnTo>
                  <a:pt x="4710291" y="2714305"/>
                </a:lnTo>
                <a:lnTo>
                  <a:pt x="0" y="2714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7677" y="1156487"/>
            <a:ext cx="8946909" cy="261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Numerical market features provide the strongest signals for RV forecasting</a:t>
            </a:r>
          </a:p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Naively aggregated news embeddings add little value to conventional ML models</a:t>
            </a:r>
          </a:p>
          <a:p>
            <a:pPr algn="l" marL="203696" indent="-50924" lvl="3">
              <a:lnSpc>
                <a:spcPts val="3375"/>
              </a:lnSpc>
              <a:buFont typeface="Arial"/>
              <a:buChar char="￭"/>
            </a:pPr>
            <a:r>
              <a:rPr lang="en-US" sz="225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Cross-attention enables RNNs to extract useful information from news and improve forecasting accuracy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824629" y="6491631"/>
            <a:ext cx="739957" cy="739957"/>
          </a:xfrm>
          <a:custGeom>
            <a:avLst/>
            <a:gdLst/>
            <a:ahLst/>
            <a:cxnLst/>
            <a:rect r="r" b="b" t="t" l="l"/>
            <a:pathLst>
              <a:path h="739957" w="739957">
                <a:moveTo>
                  <a:pt x="0" y="0"/>
                </a:moveTo>
                <a:lnTo>
                  <a:pt x="739957" y="0"/>
                </a:lnTo>
                <a:lnTo>
                  <a:pt x="739957" y="739958"/>
                </a:lnTo>
                <a:lnTo>
                  <a:pt x="0" y="739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8126" y="87773"/>
            <a:ext cx="29222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R4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8126" y="573557"/>
            <a:ext cx="5804892" cy="91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Empirical results and conclusion</a:t>
            </a:r>
          </a:p>
          <a:p>
            <a:pPr algn="l">
              <a:lnSpc>
                <a:spcPts val="345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91711" y="6947344"/>
            <a:ext cx="8512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Volatility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3268" y="317322"/>
            <a:ext cx="1723895" cy="1670716"/>
          </a:xfrm>
          <a:custGeom>
            <a:avLst/>
            <a:gdLst/>
            <a:ahLst/>
            <a:cxnLst/>
            <a:rect r="r" b="b" t="t" l="l"/>
            <a:pathLst>
              <a:path h="1670716" w="1723895">
                <a:moveTo>
                  <a:pt x="0" y="0"/>
                </a:moveTo>
                <a:lnTo>
                  <a:pt x="1723895" y="0"/>
                </a:lnTo>
                <a:lnTo>
                  <a:pt x="1723895" y="1670715"/>
                </a:lnTo>
                <a:lnTo>
                  <a:pt x="0" y="16707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7665" y="2212105"/>
            <a:ext cx="9178271" cy="67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66"/>
              </a:lnSpc>
              <a:spcBef>
                <a:spcPct val="0"/>
              </a:spcBef>
            </a:pPr>
            <a:r>
              <a:rPr lang="en-US" sz="4050" strike="noStrike" u="none">
                <a:solidFill>
                  <a:srgbClr val="D30F11"/>
                </a:solidFill>
                <a:latin typeface="Arimo"/>
                <a:ea typeface="Arimo"/>
                <a:cs typeface="Arimo"/>
                <a:sym typeface="Arimo"/>
              </a:rPr>
              <a:t>Replicating the paper: 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665" y="3803714"/>
            <a:ext cx="737907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NAME?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12594" y="3992880"/>
            <a:ext cx="17658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65817" y="3992880"/>
            <a:ext cx="17658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‡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8869" y="5040630"/>
            <a:ext cx="10988040" cy="84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Department of Information Management and Finance, National Yang Ming Chao Tung University</a:t>
            </a:r>
          </a:p>
          <a:p>
            <a:pPr algn="l">
              <a:lnSpc>
                <a:spcPts val="3451"/>
              </a:lnSpc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Institute of Business and Management, National Yang Ming Chao Tung University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01" y="5104384"/>
            <a:ext cx="1200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01" y="5522531"/>
            <a:ext cx="12008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606B7E"/>
                </a:solidFill>
                <a:latin typeface="Arimo"/>
                <a:ea typeface="Arimo"/>
                <a:cs typeface="Arimo"/>
                <a:sym typeface="Arimo"/>
              </a:rPr>
              <a:t>‡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53646" y="3379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DAHROU_9H8o</dc:identifier>
  <dcterms:modified xsi:type="dcterms:W3CDTF">2011-08-01T06:04:30Z</dcterms:modified>
  <cp:revision>1</cp:revision>
  <dc:title>20260920-template-ML&amp;FinTech</dc:title>
</cp:coreProperties>
</file>